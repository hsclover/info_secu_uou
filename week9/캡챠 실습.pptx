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05" r:id="rId1"/>
  </p:sldMasterIdLst>
  <p:notesMasterIdLst>
    <p:notesMasterId r:id="rId18"/>
  </p:notesMasterIdLst>
  <p:handoutMasterIdLst>
    <p:handoutMasterId r:id="rId19"/>
  </p:handoutMasterIdLst>
  <p:sldIdLst>
    <p:sldId id="344" r:id="rId2"/>
    <p:sldId id="345" r:id="rId3"/>
    <p:sldId id="346" r:id="rId4"/>
    <p:sldId id="347" r:id="rId5"/>
    <p:sldId id="352" r:id="rId6"/>
    <p:sldId id="348" r:id="rId7"/>
    <p:sldId id="353" r:id="rId8"/>
    <p:sldId id="354" r:id="rId9"/>
    <p:sldId id="349" r:id="rId10"/>
    <p:sldId id="350" r:id="rId11"/>
    <p:sldId id="359" r:id="rId12"/>
    <p:sldId id="355" r:id="rId13"/>
    <p:sldId id="356" r:id="rId14"/>
    <p:sldId id="351" r:id="rId15"/>
    <p:sldId id="357" r:id="rId16"/>
    <p:sldId id="358" r:id="rId17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8DB"/>
    <a:srgbClr val="006600"/>
    <a:srgbClr val="D8EEC0"/>
    <a:srgbClr val="66BD0F"/>
    <a:srgbClr val="1CB814"/>
    <a:srgbClr val="339933"/>
    <a:srgbClr val="CCFF99"/>
    <a:srgbClr val="8BC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40" autoAdjust="0"/>
    <p:restoredTop sz="95046" autoAdjust="0"/>
  </p:normalViewPr>
  <p:slideViewPr>
    <p:cSldViewPr>
      <p:cViewPr varScale="1">
        <p:scale>
          <a:sx n="113" d="100"/>
          <a:sy n="113" d="100"/>
        </p:scale>
        <p:origin x="86" y="1992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2" d="100"/>
        <a:sy n="8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6157392-ADDC-D0AC-C2E5-321386B01C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D728DE-6EC3-4AC8-F479-14452F03AA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E33913E7-9C49-42AD-A88B-478716FC19D8}" type="datetimeFigureOut">
              <a:rPr lang="ko-KR" altLang="en-US"/>
              <a:pPr>
                <a:defRPr/>
              </a:pPr>
              <a:t>2025-10-27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9EB3EF-B541-7078-63BE-2FC7D17553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C28220-0BE3-5933-76E7-F5E9869AEC8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A7D44B8-0314-42DF-AAC6-9272480A190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DE406CA-E6D7-2A81-5D2F-C02F7D33FA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639732-8B9F-4F7C-0249-4F7CCADB09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fld id="{53D83612-87B6-4212-A9D8-5A29502C7BB2}" type="datetimeFigureOut">
              <a:rPr lang="ko-KR" altLang="en-US"/>
              <a:pPr>
                <a:defRPr/>
              </a:pPr>
              <a:t>2025-10-27</a:t>
            </a:fld>
            <a:endParaRPr lang="ko-KR" altLang="en-US" dirty="0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32DAE67-5CD1-27BF-A455-585E416A4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24CA8A2-1E41-0E10-476E-3B92FEF22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837E7D-FABA-129E-7B7C-60DDB3E6D5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41D7C1-020B-06F9-2F78-FA23D9403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2F386355-D160-4744-9A5A-592569FD033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E4D267F-7C9C-65CD-8024-4B60E957C566}"/>
              </a:ext>
            </a:extLst>
          </p:cNvPr>
          <p:cNvSpPr/>
          <p:nvPr/>
        </p:nvSpPr>
        <p:spPr>
          <a:xfrm>
            <a:off x="0" y="4724400"/>
            <a:ext cx="9144000" cy="2133600"/>
          </a:xfrm>
          <a:prstGeom prst="rect">
            <a:avLst/>
          </a:prstGeom>
          <a:solidFill>
            <a:srgbClr val="009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white"/>
              </a:solidFill>
            </a:endParaRPr>
          </a:p>
        </p:txBody>
      </p:sp>
      <p:pic>
        <p:nvPicPr>
          <p:cNvPr id="3" name="그림 7">
            <a:extLst>
              <a:ext uri="{FF2B5EF4-FFF2-40B4-BE49-F238E27FC236}">
                <a16:creationId xmlns:a16="http://schemas.microsoft.com/office/drawing/2014/main" id="{7FFEDCB3-82A8-3193-0155-96EF5A62B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557338"/>
            <a:ext cx="4897437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>
            <a:extLst>
              <a:ext uri="{FF2B5EF4-FFF2-40B4-BE49-F238E27FC236}">
                <a16:creationId xmlns:a16="http://schemas.microsoft.com/office/drawing/2014/main" id="{AE83DBFD-11A7-38C1-8C17-AB8A848C5D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775" y="3297238"/>
            <a:ext cx="75565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9">
            <a:extLst>
              <a:ext uri="{FF2B5EF4-FFF2-40B4-BE49-F238E27FC236}">
                <a16:creationId xmlns:a16="http://schemas.microsoft.com/office/drawing/2014/main" id="{C4D56619-D6A0-1C00-A96B-30DF620A4C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787775"/>
            <a:ext cx="7596187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8">
            <a:extLst>
              <a:ext uri="{FF2B5EF4-FFF2-40B4-BE49-F238E27FC236}">
                <a16:creationId xmlns:a16="http://schemas.microsoft.com/office/drawing/2014/main" id="{5B889EEA-261F-ABB9-05BD-6F31C02D70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17463"/>
            <a:ext cx="4427537" cy="249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359024" y="4992529"/>
            <a:ext cx="8784976" cy="1332230"/>
          </a:xfrm>
        </p:spPr>
        <p:txBody>
          <a:bodyPr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7989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D8AD6-F469-1411-DAF2-7337B6169C43}"/>
              </a:ext>
            </a:extLst>
          </p:cNvPr>
          <p:cNvSpPr txBox="1"/>
          <p:nvPr/>
        </p:nvSpPr>
        <p:spPr>
          <a:xfrm>
            <a:off x="820738" y="4173538"/>
            <a:ext cx="742315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lvl="1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rgbClr val="FF0000"/>
              </a:solidFill>
              <a:ea typeface="맑은 고딕" pitchFamily="50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b="1" dirty="0">
                <a:solidFill>
                  <a:prstClr val="black"/>
                </a:solidFill>
                <a:ea typeface="맑은 고딕" pitchFamily="50" charset="-127"/>
              </a:rPr>
              <a:t>[</a:t>
            </a:r>
            <a:r>
              <a:rPr kumimoji="0" lang="ko-KR" altLang="en-US" sz="1600" b="1" dirty="0">
                <a:solidFill>
                  <a:prstClr val="black"/>
                </a:solidFill>
                <a:ea typeface="맑은 고딕" pitchFamily="50" charset="-127"/>
              </a:rPr>
              <a:t>강의교안 이용 안내</a:t>
            </a:r>
            <a:r>
              <a:rPr kumimoji="0" lang="en-US" altLang="ko-KR" sz="1600" b="1" dirty="0">
                <a:solidFill>
                  <a:prstClr val="black"/>
                </a:solidFill>
                <a:ea typeface="맑은 고딕" pitchFamily="50" charset="-127"/>
              </a:rPr>
              <a:t>]</a:t>
            </a: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prstClr val="black"/>
              </a:solidFill>
              <a:ea typeface="맑은 고딕" pitchFamily="50" charset="-127"/>
            </a:endParaRPr>
          </a:p>
          <a:p>
            <a:pPr marL="171450" indent="-1714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200" dirty="0">
                <a:solidFill>
                  <a:prstClr val="black"/>
                </a:solidFill>
                <a:ea typeface="맑은 고딕" pitchFamily="50" charset="-127"/>
              </a:rPr>
              <a:t>본 강의교안의 저작권은 한빛아카데미㈜에 있습니다</a:t>
            </a:r>
            <a:r>
              <a:rPr kumimoji="0" lang="en-US" altLang="ko-KR" sz="1200" dirty="0">
                <a:solidFill>
                  <a:prstClr val="black"/>
                </a:solidFill>
                <a:ea typeface="맑은 고딕" pitchFamily="50" charset="-127"/>
              </a:rPr>
              <a:t>.</a:t>
            </a:r>
            <a:r>
              <a:rPr kumimoji="0" lang="ko-KR" altLang="en-US" sz="1200" dirty="0">
                <a:solidFill>
                  <a:srgbClr val="222222"/>
                </a:solidFill>
                <a:ea typeface="맑은 고딕" pitchFamily="50" charset="-127"/>
              </a:rPr>
              <a:t> </a:t>
            </a:r>
            <a:endParaRPr kumimoji="0" lang="en-US" altLang="ko-KR" sz="1200" dirty="0">
              <a:solidFill>
                <a:srgbClr val="222222"/>
              </a:solidFill>
              <a:ea typeface="맑은 고딕" pitchFamily="50" charset="-127"/>
            </a:endParaRPr>
          </a:p>
          <a:p>
            <a:pPr marL="171450" indent="-1714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200" u="sng" dirty="0">
                <a:solidFill>
                  <a:srgbClr val="222222"/>
                </a:solidFill>
                <a:ea typeface="맑은 고딕" pitchFamily="50" charset="-127"/>
              </a:rPr>
              <a:t>이 자료를 무단으로 전제하거나 배포할 경우 저작권법 </a:t>
            </a:r>
            <a:r>
              <a:rPr kumimoji="0" lang="en-US" altLang="ko-KR" sz="1200" u="sng" dirty="0">
                <a:solidFill>
                  <a:srgbClr val="222222"/>
                </a:solidFill>
                <a:ea typeface="맑은 고딕" pitchFamily="50" charset="-127"/>
              </a:rPr>
              <a:t>136</a:t>
            </a:r>
            <a:r>
              <a:rPr kumimoji="0" lang="ko-KR" altLang="en-US" sz="1200" u="sng" dirty="0">
                <a:solidFill>
                  <a:srgbClr val="222222"/>
                </a:solidFill>
                <a:ea typeface="맑은 고딕" pitchFamily="50" charset="-127"/>
              </a:rPr>
              <a:t>조에 의거하여 처벌을 받을 수 있습니다</a:t>
            </a:r>
            <a:r>
              <a:rPr kumimoji="0" lang="en-US" altLang="ko-KR" sz="1200" u="sng" dirty="0">
                <a:solidFill>
                  <a:srgbClr val="222222"/>
                </a:solidFill>
                <a:ea typeface="맑은 고딕" pitchFamily="50" charset="-127"/>
              </a:rPr>
              <a:t>.</a:t>
            </a:r>
          </a:p>
        </p:txBody>
      </p:sp>
      <p:sp>
        <p:nvSpPr>
          <p:cNvPr id="3" name="모서리가 둥근 직사각형 5">
            <a:extLst>
              <a:ext uri="{FF2B5EF4-FFF2-40B4-BE49-F238E27FC236}">
                <a16:creationId xmlns:a16="http://schemas.microsoft.com/office/drawing/2014/main" id="{2C524643-1E23-7D63-D388-0CD708707CBE}"/>
              </a:ext>
            </a:extLst>
          </p:cNvPr>
          <p:cNvSpPr/>
          <p:nvPr/>
        </p:nvSpPr>
        <p:spPr>
          <a:xfrm>
            <a:off x="319088" y="404813"/>
            <a:ext cx="8497887" cy="6048375"/>
          </a:xfrm>
          <a:prstGeom prst="roundRect">
            <a:avLst>
              <a:gd name="adj" fmla="val 16310"/>
            </a:avLst>
          </a:prstGeom>
          <a:noFill/>
          <a:ln w="38100">
            <a:solidFill>
              <a:srgbClr val="0098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white"/>
              </a:solidFill>
            </a:endParaRPr>
          </a:p>
        </p:txBody>
      </p:sp>
      <p:pic>
        <p:nvPicPr>
          <p:cNvPr id="4" name="그림 7">
            <a:extLst>
              <a:ext uri="{FF2B5EF4-FFF2-40B4-BE49-F238E27FC236}">
                <a16:creationId xmlns:a16="http://schemas.microsoft.com/office/drawing/2014/main" id="{872AF33A-02D5-AE6F-BB22-79CD03B97D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060575"/>
            <a:ext cx="4392612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0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5">
            <a:extLst>
              <a:ext uri="{FF2B5EF4-FFF2-40B4-BE49-F238E27FC236}">
                <a16:creationId xmlns:a16="http://schemas.microsoft.com/office/drawing/2014/main" id="{EF669AA6-72DC-87F7-0ACD-EAF81D45036F}"/>
              </a:ext>
            </a:extLst>
          </p:cNvPr>
          <p:cNvSpPr/>
          <p:nvPr/>
        </p:nvSpPr>
        <p:spPr>
          <a:xfrm>
            <a:off x="319088" y="404813"/>
            <a:ext cx="8497887" cy="6048375"/>
          </a:xfrm>
          <a:prstGeom prst="roundRect">
            <a:avLst>
              <a:gd name="adj" fmla="val 16310"/>
            </a:avLst>
          </a:prstGeom>
          <a:noFill/>
          <a:ln w="38100">
            <a:solidFill>
              <a:srgbClr val="0098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white"/>
              </a:solidFill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6B54BE19-424B-C39C-4DC3-8C8F94786780}"/>
              </a:ext>
            </a:extLst>
          </p:cNvPr>
          <p:cNvSpPr txBox="1"/>
          <p:nvPr/>
        </p:nvSpPr>
        <p:spPr>
          <a:xfrm>
            <a:off x="89540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rgbClr val="3494BA">
                      <a:alpha val="0"/>
                    </a:srgbClr>
                  </a:solidFill>
                </a:ln>
                <a:solidFill>
                  <a:prstClr val="black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차례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895400" y="1844824"/>
            <a:ext cx="7408019" cy="4104456"/>
          </a:xfrm>
        </p:spPr>
        <p:txBody>
          <a:bodyPr/>
          <a:lstStyle>
            <a:lvl1pPr marL="0" indent="0">
              <a:lnSpc>
                <a:spcPct val="150000"/>
              </a:lnSpc>
              <a:buFont typeface="+mj-lt"/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6036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5">
            <a:extLst>
              <a:ext uri="{FF2B5EF4-FFF2-40B4-BE49-F238E27FC236}">
                <a16:creationId xmlns:a16="http://schemas.microsoft.com/office/drawing/2014/main" id="{1AFC83DA-9591-CA48-019F-F35E70EDD1C1}"/>
              </a:ext>
            </a:extLst>
          </p:cNvPr>
          <p:cNvSpPr/>
          <p:nvPr/>
        </p:nvSpPr>
        <p:spPr>
          <a:xfrm>
            <a:off x="319088" y="404813"/>
            <a:ext cx="8497887" cy="6048375"/>
          </a:xfrm>
          <a:prstGeom prst="roundRect">
            <a:avLst>
              <a:gd name="adj" fmla="val 16310"/>
            </a:avLst>
          </a:prstGeom>
          <a:noFill/>
          <a:ln w="38100">
            <a:solidFill>
              <a:srgbClr val="0098D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white"/>
              </a:solidFill>
            </a:endParaRPr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E1C0FBBF-CEAC-34C5-4C79-DD279569FD26}"/>
              </a:ext>
            </a:extLst>
          </p:cNvPr>
          <p:cNvSpPr txBox="1"/>
          <p:nvPr/>
        </p:nvSpPr>
        <p:spPr>
          <a:xfrm>
            <a:off x="89540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rgbClr val="3494BA">
                      <a:alpha val="0"/>
                    </a:srgbClr>
                  </a:solidFill>
                </a:ln>
                <a:solidFill>
                  <a:prstClr val="black"/>
                </a:solidFill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895400" y="1844824"/>
            <a:ext cx="7408019" cy="4104456"/>
          </a:xfrm>
        </p:spPr>
        <p:txBody>
          <a:bodyPr/>
          <a:lstStyle>
            <a:lvl1pPr marL="0" indent="0">
              <a:lnSpc>
                <a:spcPct val="150000"/>
              </a:lnSpc>
              <a:buFont typeface="+mj-lt"/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2824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C0FEEA3-2A57-0784-ACC4-B76356286925}"/>
              </a:ext>
            </a:extLst>
          </p:cNvPr>
          <p:cNvCxnSpPr/>
          <p:nvPr/>
        </p:nvCxnSpPr>
        <p:spPr>
          <a:xfrm>
            <a:off x="0" y="831850"/>
            <a:ext cx="9144000" cy="0"/>
          </a:xfrm>
          <a:prstGeom prst="line">
            <a:avLst/>
          </a:prstGeom>
          <a:ln w="76200">
            <a:solidFill>
              <a:srgbClr val="0098DB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0825" y="104244"/>
            <a:ext cx="7560840" cy="548680"/>
          </a:xfrm>
        </p:spPr>
        <p:txBody>
          <a:bodyPr/>
          <a:lstStyle>
            <a:lvl1pPr algn="l">
              <a:defRPr sz="2400" b="1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2" name="내용 개체 틀 2"/>
          <p:cNvSpPr>
            <a:spLocks noGrp="1"/>
          </p:cNvSpPr>
          <p:nvPr>
            <p:ph idx="1"/>
          </p:nvPr>
        </p:nvSpPr>
        <p:spPr>
          <a:xfrm>
            <a:off x="250825" y="1031530"/>
            <a:ext cx="8641655" cy="5472608"/>
          </a:xfr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n"/>
              <a:defRPr sz="2000" b="1">
                <a:latin typeface="+mn-ea"/>
                <a:ea typeface="+mn-ea"/>
              </a:defRPr>
            </a:lvl1pPr>
            <a:lvl2pPr marL="447675" indent="-180975">
              <a:lnSpc>
                <a:spcPct val="100000"/>
              </a:lnSpc>
              <a:spcAft>
                <a:spcPts val="400"/>
              </a:spcAft>
              <a:buClr>
                <a:schemeClr val="tx1">
                  <a:lumMod val="65000"/>
                  <a:lumOff val="35000"/>
                </a:schemeClr>
              </a:buClr>
              <a:buFont typeface="Wingdings" pitchFamily="2" charset="2"/>
              <a:buChar char="§"/>
              <a:defRPr sz="1800"/>
            </a:lvl2pPr>
            <a:lvl3pPr marL="628650" indent="-180975">
              <a:lnSpc>
                <a:spcPct val="100000"/>
              </a:lnSpc>
              <a:spcAft>
                <a:spcPts val="300"/>
              </a:spcAft>
              <a:buClr>
                <a:schemeClr val="tx1"/>
              </a:buClr>
              <a:defRPr sz="1600"/>
            </a:lvl3pPr>
            <a:lvl4pPr marL="809625" indent="-180975">
              <a:lnSpc>
                <a:spcPct val="100000"/>
              </a:lnSpc>
              <a:spcAft>
                <a:spcPts val="300"/>
              </a:spcAft>
              <a:buSzPct val="96000"/>
              <a:defRPr sz="1100"/>
            </a:lvl4pPr>
            <a:lvl5pPr marL="990600" indent="-180975">
              <a:lnSpc>
                <a:spcPct val="100000"/>
              </a:lnSpc>
              <a:defRPr sz="11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950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3">
            <a:extLst>
              <a:ext uri="{FF2B5EF4-FFF2-40B4-BE49-F238E27FC236}">
                <a16:creationId xmlns:a16="http://schemas.microsoft.com/office/drawing/2014/main" id="{2BB6D852-A4E8-795B-A618-B1BE310B9B78}"/>
              </a:ext>
            </a:extLst>
          </p:cNvPr>
          <p:cNvSpPr txBox="1">
            <a:spLocks/>
          </p:cNvSpPr>
          <p:nvPr/>
        </p:nvSpPr>
        <p:spPr bwMode="auto">
          <a:xfrm>
            <a:off x="179388" y="6162675"/>
            <a:ext cx="223202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2800" b="1" dirty="0">
                <a:solidFill>
                  <a:prstClr val="black"/>
                </a:solidFill>
              </a:rPr>
              <a:t>감사합니다</a:t>
            </a:r>
            <a:r>
              <a:rPr lang="en-US" altLang="ko-KR" sz="2800" b="1" dirty="0">
                <a:solidFill>
                  <a:prstClr val="black"/>
                </a:solidFill>
              </a:rPr>
              <a:t>.</a:t>
            </a:r>
            <a:endParaRPr lang="ko-KR" altLang="en-US" sz="2800" b="1" dirty="0">
              <a:solidFill>
                <a:prstClr val="black"/>
              </a:solidFill>
            </a:endParaRPr>
          </a:p>
        </p:txBody>
      </p:sp>
      <p:sp>
        <p:nvSpPr>
          <p:cNvPr id="3" name="직사각형 10">
            <a:extLst>
              <a:ext uri="{FF2B5EF4-FFF2-40B4-BE49-F238E27FC236}">
                <a16:creationId xmlns:a16="http://schemas.microsoft.com/office/drawing/2014/main" id="{583192F3-D3F1-D56C-B391-32C2B45BE9BE}"/>
              </a:ext>
            </a:extLst>
          </p:cNvPr>
          <p:cNvSpPr/>
          <p:nvPr/>
        </p:nvSpPr>
        <p:spPr>
          <a:xfrm>
            <a:off x="0" y="5805488"/>
            <a:ext cx="9144000" cy="6985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white"/>
              </a:solidFill>
            </a:endParaRPr>
          </a:p>
        </p:txBody>
      </p:sp>
      <p:pic>
        <p:nvPicPr>
          <p:cNvPr id="4" name="그림 7">
            <a:extLst>
              <a:ext uri="{FF2B5EF4-FFF2-40B4-BE49-F238E27FC236}">
                <a16:creationId xmlns:a16="http://schemas.microsoft.com/office/drawing/2014/main" id="{AD907F5E-FC91-1EBA-F13C-E39C2B5079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3429000"/>
            <a:ext cx="4403725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그림 8">
            <a:extLst>
              <a:ext uri="{FF2B5EF4-FFF2-40B4-BE49-F238E27FC236}">
                <a16:creationId xmlns:a16="http://schemas.microsoft.com/office/drawing/2014/main" id="{F3187F8B-2AE9-100B-6E9D-E503C8AA3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738" y="44450"/>
            <a:ext cx="3570287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4901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D774BEB-2D2F-7FEE-80E5-803FB79754E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2ABEBBC5-9CFD-4B54-274A-0928633377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8108DB-17FE-E168-69C0-916DF0344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C42BD84-8BF0-4F94-B54A-167F40C58359}" type="datetimeFigureOut">
              <a:rPr lang="ko-KR" altLang="en-US"/>
              <a:pPr>
                <a:defRPr/>
              </a:pPr>
              <a:t>2025-10-27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4BEF4-65C0-E9EE-47C6-2C07FD399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659D1-A0CB-08D5-9CFB-4FEA2A282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5D1186-D6E8-442D-A41F-415916158B3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75" r:id="rId1"/>
    <p:sldLayoutId id="2147484576" r:id="rId2"/>
    <p:sldLayoutId id="2147484577" r:id="rId3"/>
    <p:sldLayoutId id="2147484578" r:id="rId4"/>
    <p:sldLayoutId id="2147484579" r:id="rId5"/>
    <p:sldLayoutId id="2147484580" r:id="rId6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8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52F34EE1-1FF6-ACB8-939D-16AF4C5C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86B849-8B1B-8AEF-088D-17C12748D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>
              <a:defRPr/>
            </a:pPr>
            <a:r>
              <a:rPr lang="en-US" altLang="ko-KR" sz="1600" dirty="0"/>
              <a:t>CAPTACHA</a:t>
            </a:r>
            <a:r>
              <a:rPr lang="ko-KR" altLang="en-US" sz="1600" dirty="0"/>
              <a:t>란</a:t>
            </a:r>
            <a:r>
              <a:rPr lang="en-US" altLang="ko-KR" sz="1600" dirty="0"/>
              <a:t>?</a:t>
            </a:r>
          </a:p>
          <a:p>
            <a:pPr lvl="1">
              <a:defRPr/>
            </a:pPr>
            <a:r>
              <a:rPr lang="en-US" altLang="ko-KR" sz="1400" dirty="0"/>
              <a:t>Challenge &lt;-&gt; Response</a:t>
            </a:r>
          </a:p>
          <a:p>
            <a:pPr lvl="1">
              <a:defRPr/>
            </a:pPr>
            <a:r>
              <a:rPr lang="en-US" altLang="ko-KR" sz="1400" dirty="0"/>
              <a:t>“</a:t>
            </a:r>
            <a:r>
              <a:rPr lang="ko-KR" altLang="en-US" sz="1400" dirty="0"/>
              <a:t>사람은 쉽게</a:t>
            </a:r>
            <a:r>
              <a:rPr lang="en-US" altLang="ko-KR" sz="1400" dirty="0"/>
              <a:t>, </a:t>
            </a:r>
            <a:r>
              <a:rPr lang="ko-KR" altLang="en-US" sz="1400" dirty="0"/>
              <a:t>봇은 어렵게</a:t>
            </a:r>
            <a:r>
              <a:rPr lang="en-US" altLang="ko-KR" sz="1400" dirty="0"/>
              <a:t>“</a:t>
            </a:r>
          </a:p>
          <a:p>
            <a:pPr lvl="1">
              <a:defRPr/>
            </a:pPr>
            <a:r>
              <a:rPr lang="ko-KR" altLang="en-US" sz="1400" dirty="0"/>
              <a:t>문자</a:t>
            </a:r>
            <a:r>
              <a:rPr lang="en-US" altLang="ko-KR" sz="1400" dirty="0"/>
              <a:t>, </a:t>
            </a:r>
            <a:r>
              <a:rPr lang="ko-KR" altLang="en-US" sz="1400" dirty="0"/>
              <a:t>이미지</a:t>
            </a:r>
            <a:r>
              <a:rPr lang="en-US" altLang="ko-KR" sz="1400" dirty="0"/>
              <a:t>, </a:t>
            </a:r>
            <a:r>
              <a:rPr lang="ko-KR" altLang="en-US" sz="1400" dirty="0"/>
              <a:t>행동형 </a:t>
            </a:r>
            <a:r>
              <a:rPr lang="en-US" altLang="ko-KR" sz="1400" dirty="0"/>
              <a:t>CAPTCHA</a:t>
            </a:r>
          </a:p>
          <a:p>
            <a:pPr lvl="1">
              <a:defRPr/>
            </a:pPr>
            <a:endParaRPr lang="en-US" altLang="ko-KR" sz="1400" dirty="0"/>
          </a:p>
          <a:p>
            <a:pPr>
              <a:defRPr/>
            </a:pPr>
            <a:r>
              <a:rPr lang="ko-KR" altLang="en-US" sz="1600" dirty="0"/>
              <a:t>진행도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1400" dirty="0"/>
              <a:t>Flask </a:t>
            </a:r>
            <a:r>
              <a:rPr lang="ko-KR" altLang="en-US" sz="1400" dirty="0"/>
              <a:t>서버 </a:t>
            </a:r>
            <a:r>
              <a:rPr lang="en-US" altLang="ko-KR" sz="1400" dirty="0"/>
              <a:t>-&gt; </a:t>
            </a:r>
            <a:r>
              <a:rPr lang="ko-KR" altLang="en-US" sz="1400" dirty="0"/>
              <a:t>이미지생성 </a:t>
            </a:r>
            <a:r>
              <a:rPr lang="en-US" altLang="ko-KR" sz="1400" dirty="0"/>
              <a:t>-&gt; </a:t>
            </a:r>
            <a:r>
              <a:rPr lang="ko-KR" altLang="en-US" sz="1400" dirty="0"/>
              <a:t>브라우저 표시 </a:t>
            </a:r>
            <a:r>
              <a:rPr lang="en-US" altLang="ko-KR" sz="1400" dirty="0"/>
              <a:t>-&gt; </a:t>
            </a:r>
            <a:r>
              <a:rPr lang="ko-KR" altLang="en-US" sz="1400" dirty="0"/>
              <a:t>사용자가 입력 </a:t>
            </a:r>
            <a:r>
              <a:rPr lang="en-US" altLang="ko-KR" sz="1400" dirty="0"/>
              <a:t>-&gt; </a:t>
            </a:r>
            <a:r>
              <a:rPr lang="ko-KR" altLang="en-US" sz="1400" dirty="0"/>
              <a:t>서버 검증</a:t>
            </a:r>
            <a:endParaRPr lang="en-US" altLang="ko-KR" sz="1400" dirty="0"/>
          </a:p>
          <a:p>
            <a:pPr lvl="1">
              <a:defRPr/>
            </a:pPr>
            <a:endParaRPr lang="en-US" altLang="ko-KR" sz="1400" dirty="0"/>
          </a:p>
          <a:p>
            <a:pPr>
              <a:defRPr/>
            </a:pPr>
            <a:r>
              <a:rPr lang="ko-KR" altLang="en-US" sz="1600" dirty="0"/>
              <a:t>환경 세팅</a:t>
            </a:r>
            <a:endParaRPr lang="en-US" altLang="ko-KR" sz="1600" dirty="0"/>
          </a:p>
          <a:p>
            <a:pPr lvl="1">
              <a:defRPr/>
            </a:pPr>
            <a:r>
              <a:rPr lang="en-US" altLang="ko-KR" sz="1400" dirty="0"/>
              <a:t>Pip install pillow flask </a:t>
            </a:r>
            <a:r>
              <a:rPr lang="en-US" altLang="ko-KR" sz="1400" dirty="0" err="1"/>
              <a:t>numpy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B57A22-8F1A-BCE2-474C-EF6ACC2B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183" y="3661245"/>
            <a:ext cx="3403497" cy="2901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8E5B7-D09E-864F-57CD-08C72BCD7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3FF58B82-7991-1D72-440A-677C9640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</a:t>
            </a:r>
            <a:r>
              <a:rPr lang="ko-KR" altLang="en-US" dirty="0"/>
              <a:t>의 이미지 원리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DAAAE40-5E1B-1C8A-FCD9-6CCF1CB909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825" y="1031875"/>
                <a:ext cx="8642350" cy="5472113"/>
              </a:xfrm>
            </p:spPr>
            <p:txBody>
              <a:bodyPr/>
              <a:lstStyle/>
              <a:p>
                <a:pPr>
                  <a:defRPr/>
                </a:pPr>
                <a:r>
                  <a:rPr lang="ko-KR" altLang="en-US" sz="1600" dirty="0"/>
                  <a:t>문자 생성 단계별 비교</a:t>
                </a:r>
                <a:endParaRPr lang="en-US" altLang="ko-KR" sz="1600" dirty="0"/>
              </a:p>
              <a:p>
                <a:pPr lvl="1">
                  <a:defRPr/>
                </a:pPr>
                <a:r>
                  <a:rPr lang="ko-KR" altLang="en-US" sz="1200" dirty="0"/>
                  <a:t>기본 텍스트</a:t>
                </a:r>
                <a:endParaRPr lang="en-US" altLang="ko-KR" sz="1200" dirty="0"/>
              </a:p>
              <a:p>
                <a:pPr lvl="1">
                  <a:defRPr/>
                </a:pPr>
                <a:r>
                  <a:rPr lang="ko-KR" altLang="en-US" sz="1200" dirty="0"/>
                  <a:t>회전</a:t>
                </a:r>
                <a:endParaRPr lang="en-US" altLang="ko-KR" sz="1200" dirty="0"/>
              </a:p>
              <a:p>
                <a:pPr lvl="1">
                  <a:defRPr/>
                </a:pPr>
                <a:r>
                  <a:rPr lang="ko-KR" altLang="en-US" sz="1200" dirty="0"/>
                  <a:t>노이즈</a:t>
                </a:r>
                <a:endParaRPr lang="en-US" altLang="ko-KR" sz="1200" dirty="0"/>
              </a:p>
              <a:p>
                <a:pPr lvl="1">
                  <a:defRPr/>
                </a:pPr>
                <a:r>
                  <a:rPr lang="ko-KR" altLang="en-US" sz="1200" dirty="0" err="1"/>
                  <a:t>블러</a:t>
                </a:r>
                <a:r>
                  <a:rPr lang="en-US" altLang="ko-KR" sz="1200" dirty="0"/>
                  <a:t>/</a:t>
                </a:r>
                <a:r>
                  <a:rPr lang="ko-KR" altLang="en-US" sz="1200" dirty="0" err="1"/>
                  <a:t>언샤프</a:t>
                </a:r>
                <a:endParaRPr lang="en-US" altLang="ko-KR" sz="1200" dirty="0"/>
              </a:p>
              <a:p>
                <a:pPr lvl="1">
                  <a:defRPr/>
                </a:pPr>
                <a:endParaRPr lang="en-US" altLang="ko-KR" sz="1200" dirty="0"/>
              </a:p>
              <a:p>
                <a:pPr lvl="1">
                  <a:defRPr/>
                </a:pPr>
                <a:endParaRPr lang="en-US" altLang="ko-KR" sz="1200" dirty="0"/>
              </a:p>
              <a:p>
                <a:pPr>
                  <a:defRPr/>
                </a:pPr>
                <a:r>
                  <a:rPr lang="ko-KR" altLang="en-US" sz="1400" dirty="0"/>
                  <a:t>회전 </a:t>
                </a:r>
                <a14:m>
                  <m:oMath xmlns:m="http://schemas.openxmlformats.org/officeDocument/2006/math">
                    <m:r>
                      <a:rPr lang="ko-KR" altLang="en-US" sz="1400" i="1">
                        <a:latin typeface="Cambria Math" panose="02040503050406030204" pitchFamily="18" charset="0"/>
                      </a:rPr>
                      <m:t>행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렬</m:t>
                    </m:r>
                    <m:r>
                      <a:rPr lang="en-US" altLang="ko-KR" sz="1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𝑹</m:t>
                    </m:r>
                    <m:d>
                      <m:d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mr>
                      <m:mr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𝒔𝒊𝒏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e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𝒄𝒐𝒔</m:t>
                          </m:r>
                          <m:r>
                            <a:rPr lang="en-US" altLang="ko-KR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mr>
                    </m:m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400" dirty="0"/>
              </a:p>
              <a:p>
                <a:pPr>
                  <a:defRPr/>
                </a:pPr>
                <a:r>
                  <a:rPr lang="ko-KR" altLang="en-US" sz="1400" dirty="0"/>
                  <a:t>웨이브 변형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altLang="ko-KR" sz="14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𝒔𝒊𝒏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 /</m:t>
                    </m:r>
                    <m:r>
                      <a:rPr lang="en-US" altLang="ko-KR" sz="1400" b="1" i="1" smtClean="0">
                        <a:latin typeface="Cambria Math" panose="02040503050406030204" pitchFamily="18" charset="0"/>
                      </a:rPr>
                      <m:t>𝝀</m:t>
                    </m:r>
                  </m:oMath>
                </a14:m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DAAAE40-5E1B-1C8A-FCD9-6CCF1CB90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825" y="1031875"/>
                <a:ext cx="8642350" cy="5472113"/>
              </a:xfrm>
              <a:blipFill>
                <a:blip r:embed="rId2"/>
                <a:stretch>
                  <a:fillRect l="-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26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F9449-182B-E469-6E41-B03F14ED0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1C86FAF7-A26C-2782-FBDB-411C52A1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20CBC6-CAFC-BEC7-ECF2-7299A0141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app.py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from flask import Flask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app = Flask(__name__)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@app.route("/")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def index():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"&lt;h1&gt;Hello, Flask!&lt;/h1&gt;"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if __name__ == "__main__":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app.run</a:t>
            </a:r>
            <a:r>
              <a:rPr lang="en-US" altLang="ko-KR" sz="1600" dirty="0"/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11831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837DD-9CAD-7CEA-F526-201D05B5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836978ED-E058-3F94-6419-999F832A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F9DBBE-5F31-B11A-A335-CB6374960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1. templates/ </a:t>
            </a:r>
            <a:r>
              <a:rPr lang="ko-KR" altLang="en-US" sz="1600" dirty="0"/>
              <a:t>폴더 추가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2. templates/index.html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&lt;!doctype html&gt;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&lt;meta charset="utf-8"&gt;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&lt;title&gt;Custom CAPTCHA&lt;/title&gt;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&lt;h2&gt;Custom CAPTCHA </a:t>
            </a:r>
            <a:r>
              <a:rPr lang="ko-KR" altLang="en-US" sz="1600" dirty="0"/>
              <a:t>실습</a:t>
            </a:r>
            <a:r>
              <a:rPr lang="en-US" altLang="ko-KR" sz="1600" dirty="0"/>
              <a:t>&lt;/h2&gt;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&lt;form method="POST" action="/submit"&gt;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&lt;p&gt;</a:t>
            </a:r>
            <a:r>
              <a:rPr lang="ko-KR" altLang="en-US" sz="1600" dirty="0"/>
              <a:t>아래 문자를 입력하세요 </a:t>
            </a:r>
            <a:r>
              <a:rPr lang="en-US" altLang="ko-KR" sz="1600" dirty="0"/>
              <a:t>(</a:t>
            </a:r>
            <a:r>
              <a:rPr lang="ko-KR" altLang="en-US" sz="1600" dirty="0"/>
              <a:t>대</a:t>
            </a:r>
            <a:r>
              <a:rPr lang="en-US" altLang="ko-KR" sz="1600" dirty="0"/>
              <a:t>/</a:t>
            </a:r>
            <a:r>
              <a:rPr lang="ko-KR" altLang="en-US" sz="1600" dirty="0"/>
              <a:t>소문자 구분 없음</a:t>
            </a:r>
            <a:r>
              <a:rPr lang="en-US" altLang="ko-KR" sz="1600" dirty="0"/>
              <a:t>)&lt;/p&gt;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&lt;</a:t>
            </a:r>
            <a:r>
              <a:rPr lang="en-US" altLang="ko-KR" sz="1600" dirty="0" err="1"/>
              <a:t>img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src</a:t>
            </a:r>
            <a:r>
              <a:rPr lang="en-US" altLang="ko-KR" sz="1600" dirty="0"/>
              <a:t>="/</a:t>
            </a:r>
            <a:r>
              <a:rPr lang="en-US" altLang="ko-KR" sz="1600" dirty="0" err="1"/>
              <a:t>captcha.png?ts</a:t>
            </a:r>
            <a:r>
              <a:rPr lang="en-US" altLang="ko-KR" sz="1600" dirty="0"/>
              <a:t>={{ </a:t>
            </a:r>
            <a:r>
              <a:rPr lang="en-US" altLang="ko-KR" sz="1600" dirty="0" err="1"/>
              <a:t>ts</a:t>
            </a:r>
            <a:r>
              <a:rPr lang="en-US" altLang="ko-KR" sz="1600" dirty="0"/>
              <a:t> }}" height="90"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onclick="</a:t>
            </a:r>
            <a:r>
              <a:rPr lang="en-US" altLang="ko-KR" sz="1600" dirty="0" err="1"/>
              <a:t>this.src</a:t>
            </a:r>
            <a:r>
              <a:rPr lang="en-US" altLang="ko-KR" sz="1600" dirty="0"/>
              <a:t>='/</a:t>
            </a:r>
            <a:r>
              <a:rPr lang="en-US" altLang="ko-KR" sz="1600" dirty="0" err="1"/>
              <a:t>captcha.png?ts</a:t>
            </a:r>
            <a:r>
              <a:rPr lang="en-US" altLang="ko-KR" sz="1600" dirty="0"/>
              <a:t>='+</a:t>
            </a:r>
            <a:r>
              <a:rPr lang="en-US" altLang="ko-KR" sz="1600" dirty="0" err="1"/>
              <a:t>Date.now</a:t>
            </a:r>
            <a:r>
              <a:rPr lang="en-US" altLang="ko-KR" sz="1600" dirty="0"/>
              <a:t>()" style="</a:t>
            </a:r>
            <a:r>
              <a:rPr lang="en-US" altLang="ko-KR" sz="1600" dirty="0" err="1"/>
              <a:t>cursor:pointer</a:t>
            </a:r>
            <a:r>
              <a:rPr lang="en-US" altLang="ko-KR" sz="1600" dirty="0"/>
              <a:t>"&gt;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&gt;&lt;</a:t>
            </a:r>
            <a:r>
              <a:rPr lang="en-US" altLang="ko-KR" sz="1600" dirty="0" err="1"/>
              <a:t>br</a:t>
            </a:r>
            <a:r>
              <a:rPr lang="en-US" altLang="ko-KR" sz="1600" dirty="0"/>
              <a:t>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&lt;input name="captcha" required autocomplete="off" autofocus&gt;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&lt;button&gt;</a:t>
            </a:r>
            <a:r>
              <a:rPr lang="ko-KR" altLang="en-US" sz="1600" dirty="0"/>
              <a:t>확인</a:t>
            </a:r>
            <a:r>
              <a:rPr lang="en-US" altLang="ko-KR" sz="1600" dirty="0"/>
              <a:t>&lt;/button&gt;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&lt;/form&gt;</a:t>
            </a:r>
          </a:p>
          <a:p>
            <a:pPr marL="0" indent="0">
              <a:buNone/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38173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4D157-6B04-292C-783E-A095F2C1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F35DF549-A3C2-0F5B-2B7B-047B3088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/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E08B9-34B7-01E3-72F1-D6F40F158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{% with </a:t>
            </a:r>
            <a:r>
              <a:rPr lang="en-US" altLang="ko-KR" sz="1600" dirty="0" err="1"/>
              <a:t>msgs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get_flashed_messages</a:t>
            </a:r>
            <a:r>
              <a:rPr lang="en-US" altLang="ko-KR" sz="1600" dirty="0"/>
              <a:t>() %}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{% if </a:t>
            </a:r>
            <a:r>
              <a:rPr lang="en-US" altLang="ko-KR" sz="1600" dirty="0" err="1"/>
              <a:t>msgs</a:t>
            </a:r>
            <a:r>
              <a:rPr lang="en-US" altLang="ko-KR" sz="1600" dirty="0"/>
              <a:t> %}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&lt;p style="margin-top:10px;color:#0a7"&gt;{{ </a:t>
            </a:r>
            <a:r>
              <a:rPr lang="en-US" altLang="ko-KR" sz="1600" dirty="0" err="1"/>
              <a:t>msgs</a:t>
            </a:r>
            <a:r>
              <a:rPr lang="en-US" altLang="ko-KR" sz="1600" dirty="0"/>
              <a:t>[0] }}&lt;/p&gt;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{% endif %}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{% </a:t>
            </a:r>
            <a:r>
              <a:rPr lang="en-US" altLang="ko-KR" sz="1600" dirty="0" err="1"/>
              <a:t>endwith</a:t>
            </a:r>
            <a:r>
              <a:rPr lang="en-US" altLang="ko-KR" sz="1600" dirty="0"/>
              <a:t> %}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&lt;p style="color:#666"&gt;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</a:t>
            </a:r>
            <a:r>
              <a:rPr lang="ko-KR" altLang="en-US" sz="1600" dirty="0"/>
              <a:t>유효시간</a:t>
            </a:r>
            <a:r>
              <a:rPr lang="en-US" altLang="ko-KR" sz="1600" dirty="0"/>
              <a:t>: {{ </a:t>
            </a:r>
            <a:r>
              <a:rPr lang="en-US" altLang="ko-KR" sz="1600" dirty="0" err="1"/>
              <a:t>ttl</a:t>
            </a:r>
            <a:r>
              <a:rPr lang="en-US" altLang="ko-KR" sz="1600" dirty="0"/>
              <a:t> }}</a:t>
            </a:r>
            <a:r>
              <a:rPr lang="ko-KR" altLang="en-US" sz="1600" dirty="0"/>
              <a:t>초 </a:t>
            </a:r>
            <a:r>
              <a:rPr lang="en-US" altLang="ko-KR" sz="1600" dirty="0"/>
              <a:t>· </a:t>
            </a:r>
            <a:r>
              <a:rPr lang="ko-KR" altLang="en-US" sz="1600" dirty="0"/>
              <a:t>이미지를 클릭하면 새로 생성됩니다</a:t>
            </a:r>
            <a:r>
              <a:rPr lang="en-US" altLang="ko-KR" sz="1600" dirty="0"/>
              <a:t>.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538743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2B738-B2AD-AB57-72AA-B90F5344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AC5EFF23-C636-806F-065E-3CD6C8F0F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 err="1"/>
              <a:t>라우트</a:t>
            </a:r>
            <a:r>
              <a:rPr lang="ko-KR" altLang="en-US" dirty="0"/>
              <a:t>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721B91-54D0-5668-D6B9-0B51B7B5A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import </a:t>
            </a:r>
            <a:r>
              <a:rPr lang="en-US" altLang="ko-KR" sz="1600" dirty="0" err="1"/>
              <a:t>os</a:t>
            </a:r>
            <a:r>
              <a:rPr lang="en-US" altLang="ko-KR" sz="1600" dirty="0"/>
              <a:t>, time, random, io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from flask import Flask, </a:t>
            </a:r>
            <a:r>
              <a:rPr lang="en-US" altLang="ko-KR" sz="1600" dirty="0" err="1"/>
              <a:t>render_template</a:t>
            </a:r>
            <a:r>
              <a:rPr lang="en-US" altLang="ko-KR" sz="1600" dirty="0"/>
              <a:t>, request, </a:t>
            </a:r>
            <a:r>
              <a:rPr lang="en-US" altLang="ko-KR" sz="1600" dirty="0" err="1"/>
              <a:t>send_file</a:t>
            </a:r>
            <a:r>
              <a:rPr lang="en-US" altLang="ko-KR" sz="1600" dirty="0"/>
              <a:t>, session, redirect, </a:t>
            </a:r>
            <a:r>
              <a:rPr lang="en-US" altLang="ko-KR" sz="1600" dirty="0" err="1"/>
              <a:t>url_for</a:t>
            </a:r>
            <a:r>
              <a:rPr lang="en-US" altLang="ko-KR" sz="1600" dirty="0"/>
              <a:t>, flash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app = Flask(__name__)</a:t>
            </a:r>
          </a:p>
          <a:p>
            <a:pPr marL="0" indent="0">
              <a:buNone/>
              <a:defRPr/>
            </a:pPr>
            <a:r>
              <a:rPr lang="en-US" altLang="ko-KR" sz="1600" dirty="0" err="1"/>
              <a:t>app.config</a:t>
            </a:r>
            <a:r>
              <a:rPr lang="en-US" altLang="ko-KR" sz="1600" dirty="0"/>
              <a:t>["SECRET_KEY"] = </a:t>
            </a:r>
            <a:r>
              <a:rPr lang="en-US" altLang="ko-KR" sz="1600" dirty="0" err="1"/>
              <a:t>os.getenv</a:t>
            </a:r>
            <a:r>
              <a:rPr lang="en-US" altLang="ko-KR" sz="1600" dirty="0"/>
              <a:t>("FLASK_SECRET", "</a:t>
            </a:r>
            <a:r>
              <a:rPr lang="en-US" altLang="ko-KR" sz="1600" dirty="0" err="1"/>
              <a:t>devsecret_for_class</a:t>
            </a:r>
            <a:r>
              <a:rPr lang="en-US" altLang="ko-KR" sz="1600" dirty="0"/>
              <a:t>")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CAPTCHA_TTL = 120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CAPTCHA_LEN = 5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ALPHABET = "ABCDEFGHJKLMNPQRSTUVWXYZ23456789"  # </a:t>
            </a:r>
            <a:r>
              <a:rPr lang="ko-KR" altLang="en-US" sz="1600" dirty="0"/>
              <a:t>모호문자 제거</a:t>
            </a:r>
            <a:r>
              <a:rPr lang="en-US" altLang="ko-KR" sz="1600" dirty="0"/>
              <a:t>(I,l,O,0)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random_text</a:t>
            </a:r>
            <a:r>
              <a:rPr lang="en-US" altLang="ko-KR" sz="1600" dirty="0"/>
              <a:t>(n=CAPTCHA_LEN):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"".join(</a:t>
            </a:r>
            <a:r>
              <a:rPr lang="en-US" altLang="ko-KR" sz="1600" dirty="0" err="1"/>
              <a:t>random.choice</a:t>
            </a:r>
            <a:r>
              <a:rPr lang="en-US" altLang="ko-KR" sz="1600" dirty="0"/>
              <a:t>(ALPHABET) for _ in range(n))</a:t>
            </a:r>
          </a:p>
        </p:txBody>
      </p:sp>
    </p:spTree>
    <p:extLst>
      <p:ext uri="{BB962C8B-B14F-4D97-AF65-F5344CB8AC3E}">
        <p14:creationId xmlns:p14="http://schemas.microsoft.com/office/powerpoint/2010/main" val="173883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32F2E-4F83-66B9-CBCD-4DC341D9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05BC7E78-C2F3-DF47-2B92-27C87B84F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 err="1"/>
              <a:t>라우트</a:t>
            </a:r>
            <a:r>
              <a:rPr lang="ko-KR" altLang="en-US" dirty="0"/>
              <a:t>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F5D940-1BBA-F15C-5BBE-25862D8B0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new_challenge</a:t>
            </a:r>
            <a:r>
              <a:rPr lang="en-US" altLang="ko-KR" sz="1600" dirty="0"/>
              <a:t>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session["captcha"] = {"answer": </a:t>
            </a:r>
            <a:r>
              <a:rPr lang="en-US" altLang="ko-KR" sz="1600" dirty="0" err="1"/>
              <a:t>random_text</a:t>
            </a:r>
            <a:r>
              <a:rPr lang="en-US" altLang="ko-KR" sz="1600" dirty="0"/>
              <a:t>(), "</a:t>
            </a:r>
            <a:r>
              <a:rPr lang="en-US" altLang="ko-KR" sz="1600" dirty="0" err="1"/>
              <a:t>created_at</a:t>
            </a:r>
            <a:r>
              <a:rPr lang="en-US" altLang="ko-KR" sz="1600" dirty="0"/>
              <a:t>": </a:t>
            </a:r>
            <a:r>
              <a:rPr lang="en-US" altLang="ko-KR" sz="1600" dirty="0" err="1"/>
              <a:t>time.time</a:t>
            </a:r>
            <a:r>
              <a:rPr lang="en-US" altLang="ko-KR" sz="1600" dirty="0"/>
              <a:t>()}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session["captcha"]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get_challenge</a:t>
            </a:r>
            <a:r>
              <a:rPr lang="en-US" altLang="ko-KR" sz="1600" dirty="0"/>
              <a:t>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session.get</a:t>
            </a:r>
            <a:r>
              <a:rPr lang="en-US" altLang="ko-KR" sz="1600" dirty="0"/>
              <a:t>("captcha")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invalidate_challenge</a:t>
            </a:r>
            <a:r>
              <a:rPr lang="en-US" altLang="ko-KR" sz="1600" dirty="0"/>
              <a:t>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session.pop</a:t>
            </a:r>
            <a:r>
              <a:rPr lang="en-US" altLang="ko-KR" sz="1600" dirty="0"/>
              <a:t>("captcha", None)</a:t>
            </a:r>
          </a:p>
          <a:p>
            <a:pPr marL="0" indent="0">
              <a:buNone/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59725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B4C6-A300-E1C9-86A4-FC5B48B6F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D998D3D3-B0E3-0B35-B7A9-77A6C784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Flask </a:t>
            </a:r>
            <a:r>
              <a:rPr lang="ko-KR" altLang="en-US" dirty="0" err="1"/>
              <a:t>라우트</a:t>
            </a:r>
            <a:r>
              <a:rPr lang="ko-KR" altLang="en-US" dirty="0"/>
              <a:t>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BA3CFF-E406-AFFA-0144-6DD3F974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@app.get("/")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def index():</a:t>
            </a:r>
          </a:p>
          <a:p>
            <a:pPr marL="0" indent="0">
              <a:buNone/>
              <a:defRPr/>
            </a:pPr>
            <a:r>
              <a:rPr lang="en-US" altLang="ko-KR" sz="1600" dirty="0" err="1"/>
              <a:t>new_challenge</a:t>
            </a:r>
            <a:r>
              <a:rPr lang="en-US" altLang="ko-KR" sz="1600" dirty="0"/>
              <a:t>()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render_template</a:t>
            </a:r>
            <a:r>
              <a:rPr lang="en-US" altLang="ko-KR" sz="1600" dirty="0"/>
              <a:t>("index.html", </a:t>
            </a:r>
            <a:r>
              <a:rPr lang="en-US" altLang="ko-KR" sz="1600" dirty="0" err="1"/>
              <a:t>ts</a:t>
            </a:r>
            <a:r>
              <a:rPr lang="en-US" altLang="ko-KR" sz="1600" dirty="0"/>
              <a:t>=</a:t>
            </a:r>
            <a:r>
              <a:rPr lang="en-US" altLang="ko-KR" sz="1600" dirty="0" err="1"/>
              <a:t>time.time</a:t>
            </a:r>
            <a:r>
              <a:rPr lang="en-US" altLang="ko-KR" sz="1600" dirty="0"/>
              <a:t>(), </a:t>
            </a:r>
            <a:r>
              <a:rPr lang="en-US" altLang="ko-KR" sz="1600" dirty="0" err="1"/>
              <a:t>ttl</a:t>
            </a:r>
            <a:r>
              <a:rPr lang="en-US" altLang="ko-KR" sz="1600" dirty="0"/>
              <a:t>=CAPTCHA_TTL)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if __name__ == "__main__":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app.run</a:t>
            </a:r>
            <a:r>
              <a:rPr lang="en-US" altLang="ko-KR" sz="1600" dirty="0"/>
              <a:t>(debug=True)</a:t>
            </a:r>
          </a:p>
        </p:txBody>
      </p:sp>
    </p:spTree>
    <p:extLst>
      <p:ext uri="{BB962C8B-B14F-4D97-AF65-F5344CB8AC3E}">
        <p14:creationId xmlns:p14="http://schemas.microsoft.com/office/powerpoint/2010/main" val="345178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3512-4CA9-5CEB-48E9-AE912287F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D2B9EBD4-CD79-44E2-9E72-BA7294A7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97F669-9BBC-AA16-1449-7B8F92DFA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from PIL import Image, </a:t>
            </a:r>
            <a:r>
              <a:rPr lang="en-US" altLang="ko-KR" sz="1600" dirty="0" err="1"/>
              <a:t>ImageDraw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ImageFont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ImageFilter</a:t>
            </a:r>
            <a:endParaRPr lang="en-US" altLang="ko-KR" sz="1600" dirty="0"/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FONT_CANDIDATES = [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"/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/share/fonts/</a:t>
            </a:r>
            <a:r>
              <a:rPr lang="en-US" altLang="ko-KR" sz="1600" dirty="0" err="1"/>
              <a:t>truetype</a:t>
            </a:r>
            <a:r>
              <a:rPr lang="en-US" altLang="ko-KR" sz="1600" dirty="0"/>
              <a:t>/</a:t>
            </a:r>
            <a:r>
              <a:rPr lang="en-US" altLang="ko-KR" sz="1600" dirty="0" err="1"/>
              <a:t>dejavu</a:t>
            </a:r>
            <a:r>
              <a:rPr lang="en-US" altLang="ko-KR" sz="1600" dirty="0"/>
              <a:t>/DejaVuSans-Bold.ttf",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"/</a:t>
            </a:r>
            <a:r>
              <a:rPr lang="en-US" altLang="ko-KR" sz="1600" dirty="0" err="1"/>
              <a:t>usr</a:t>
            </a:r>
            <a:r>
              <a:rPr lang="en-US" altLang="ko-KR" sz="1600" dirty="0"/>
              <a:t>/share/fonts/</a:t>
            </a:r>
            <a:r>
              <a:rPr lang="en-US" altLang="ko-KR" sz="1600" dirty="0" err="1"/>
              <a:t>truetype</a:t>
            </a:r>
            <a:r>
              <a:rPr lang="en-US" altLang="ko-KR" sz="1600" dirty="0"/>
              <a:t>/liberation/LiberationSans-Bold.ttf",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"arial.ttf", "FreeMono.ttf"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]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choose_font</a:t>
            </a:r>
            <a:r>
              <a:rPr lang="en-US" altLang="ko-KR" sz="1600" dirty="0"/>
              <a:t>(size=42):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for p in FONT_CANDIDATES: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try: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return </a:t>
            </a:r>
            <a:r>
              <a:rPr lang="en-US" altLang="ko-KR" sz="1600" dirty="0" err="1"/>
              <a:t>ImageFont.truetype</a:t>
            </a:r>
            <a:r>
              <a:rPr lang="en-US" altLang="ko-KR" sz="1600" dirty="0"/>
              <a:t>(p, size=size)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except Exception: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continue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ImageFont.load_default</a:t>
            </a:r>
            <a:r>
              <a:rPr lang="en-US" altLang="ko-KR" sz="16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0792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99C2B-7DC9-472E-409B-AEE4A3243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96215A42-D522-9AE3-8F63-69F5E563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35B7C-19E9-D278-A847-32D18C64F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generate_captcha_image</a:t>
            </a:r>
            <a:r>
              <a:rPr lang="en-US" altLang="ko-KR" sz="1600" dirty="0"/>
              <a:t>(text, width=260, height=90,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               </a:t>
            </a:r>
            <a:r>
              <a:rPr lang="en-US" altLang="ko-KR" sz="1600" dirty="0" err="1"/>
              <a:t>rotate_range</a:t>
            </a:r>
            <a:r>
              <a:rPr lang="en-US" altLang="ko-KR" sz="1600" dirty="0"/>
              <a:t>=28, </a:t>
            </a:r>
            <a:r>
              <a:rPr lang="en-US" altLang="ko-KR" sz="1600" dirty="0" err="1"/>
              <a:t>line_count</a:t>
            </a:r>
            <a:r>
              <a:rPr lang="en-US" altLang="ko-KR" sz="1600" dirty="0"/>
              <a:t>=6, </a:t>
            </a:r>
            <a:r>
              <a:rPr lang="en-US" altLang="ko-KR" sz="1600" dirty="0" err="1"/>
              <a:t>dot_count</a:t>
            </a:r>
            <a:r>
              <a:rPr lang="en-US" altLang="ko-KR" sz="1600" dirty="0"/>
              <a:t>=400):</a:t>
            </a:r>
          </a:p>
          <a:p>
            <a:pPr marL="0" indent="0">
              <a:buNone/>
              <a:defRPr/>
            </a:pPr>
            <a:r>
              <a:rPr lang="en-US" altLang="ko-KR" sz="1600"/>
              <a:t>    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Image.new</a:t>
            </a:r>
            <a:r>
              <a:rPr lang="en-US" altLang="ko-KR" sz="1600" dirty="0"/>
              <a:t>("RGB", (width, height), (255, 255, 255))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d = </a:t>
            </a:r>
            <a:r>
              <a:rPr lang="en-US" altLang="ko-KR" sz="1600" dirty="0" err="1"/>
              <a:t>ImageDraw.Draw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img</a:t>
            </a:r>
            <a:r>
              <a:rPr lang="en-US" altLang="ko-KR" sz="1600" dirty="0"/>
              <a:t>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endParaRPr lang="ko-KR" altLang="en-US" sz="1600" dirty="0"/>
          </a:p>
          <a:p>
            <a:pPr marL="0" indent="0">
              <a:buNone/>
              <a:defRPr/>
            </a:pPr>
            <a:r>
              <a:rPr lang="ko-KR" altLang="en-US" sz="1600" dirty="0"/>
              <a:t>    </a:t>
            </a:r>
            <a:r>
              <a:rPr lang="en-US" altLang="ko-KR" sz="1600" dirty="0"/>
              <a:t>for _ in range(</a:t>
            </a:r>
            <a:r>
              <a:rPr lang="en-US" altLang="ko-KR" sz="1600" dirty="0" err="1"/>
              <a:t>line_count</a:t>
            </a:r>
            <a:r>
              <a:rPr lang="en-US" altLang="ko-KR" sz="1600" dirty="0"/>
              <a:t>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a = 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(0,width),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(0,height))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b = 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(0,width),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(0,height))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col = 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(120,200),)*3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d.line</a:t>
            </a:r>
            <a:r>
              <a:rPr lang="en-US" altLang="ko-KR" sz="1600" dirty="0"/>
              <a:t>([</a:t>
            </a:r>
            <a:r>
              <a:rPr lang="en-US" altLang="ko-KR" sz="1600" dirty="0" err="1"/>
              <a:t>a,b</a:t>
            </a:r>
            <a:r>
              <a:rPr lang="en-US" altLang="ko-KR" sz="1600" dirty="0"/>
              <a:t>], fill=col, width=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(1,3))</a:t>
            </a:r>
          </a:p>
          <a:p>
            <a:pPr marL="0" indent="0">
              <a:buNone/>
              <a:defRPr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3724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A1C1-6B07-DEBE-0F71-1771DE7D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80A5F578-9190-8110-03C5-CF9DAFDBD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8AC48-9A99-C0DC-98E1-428DFBA22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    spacing = width // (</a:t>
            </a:r>
            <a:r>
              <a:rPr lang="en-US" altLang="ko-KR" sz="1600" dirty="0" err="1"/>
              <a:t>len</a:t>
            </a:r>
            <a:r>
              <a:rPr lang="en-US" altLang="ko-KR" sz="1600" dirty="0"/>
              <a:t>(text)+2)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base_x</a:t>
            </a:r>
            <a:r>
              <a:rPr lang="en-US" altLang="ko-KR" sz="1600" dirty="0"/>
              <a:t> = spacing//2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for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in enumerate(text):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font = </a:t>
            </a:r>
            <a:r>
              <a:rPr lang="en-US" altLang="ko-KR" sz="1600" dirty="0" err="1"/>
              <a:t>choose_font</a:t>
            </a:r>
            <a:r>
              <a:rPr lang="en-US" altLang="ko-KR" sz="1600" dirty="0"/>
              <a:t>(size=</a:t>
            </a:r>
            <a:r>
              <a:rPr lang="en-US" altLang="ko-KR" sz="1600" dirty="0" err="1"/>
              <a:t>random.choice</a:t>
            </a:r>
            <a:r>
              <a:rPr lang="en-US" altLang="ko-KR" sz="1600" dirty="0"/>
              <a:t>([40,42,44]))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ch_img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Image.new</a:t>
            </a:r>
            <a:r>
              <a:rPr lang="en-US" altLang="ko-KR" sz="1600" dirty="0"/>
              <a:t>("RGBA", (60, 60), (0,0,0,0))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cd = </a:t>
            </a:r>
            <a:r>
              <a:rPr lang="en-US" altLang="ko-KR" sz="1600" dirty="0" err="1"/>
              <a:t>ImageDraw.Draw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ch_img</a:t>
            </a:r>
            <a:r>
              <a:rPr lang="en-US" altLang="ko-KR" sz="1600" dirty="0"/>
              <a:t>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cd.text</a:t>
            </a:r>
            <a:r>
              <a:rPr lang="en-US" altLang="ko-KR" sz="1600" dirty="0"/>
              <a:t>((10, 5),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, font=font,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    fill=(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(10,120),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(10,120),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(10,120)))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angle =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(-</a:t>
            </a:r>
            <a:r>
              <a:rPr lang="en-US" altLang="ko-KR" sz="1600" dirty="0" err="1"/>
              <a:t>rotate_range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rotate_range</a:t>
            </a:r>
            <a:r>
              <a:rPr lang="en-US" altLang="ko-KR" sz="1600" dirty="0"/>
              <a:t>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ch_img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ch_img.rotate</a:t>
            </a:r>
            <a:r>
              <a:rPr lang="en-US" altLang="ko-KR" sz="1600" dirty="0"/>
              <a:t>(angle, resample=</a:t>
            </a:r>
            <a:r>
              <a:rPr lang="en-US" altLang="ko-KR" sz="1600" dirty="0" err="1"/>
              <a:t>Image.BICUBIC</a:t>
            </a:r>
            <a:r>
              <a:rPr lang="en-US" altLang="ko-KR" sz="1600" dirty="0"/>
              <a:t>, expand=1)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    x = </a:t>
            </a:r>
            <a:r>
              <a:rPr lang="en-US" altLang="ko-KR" sz="1600" dirty="0" err="1"/>
              <a:t>base_x</a:t>
            </a:r>
            <a:r>
              <a:rPr lang="en-US" altLang="ko-KR" sz="1600" dirty="0"/>
              <a:t> +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*spacing +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(-4,6)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y = (height - </a:t>
            </a:r>
            <a:r>
              <a:rPr lang="en-US" altLang="ko-KR" sz="1600" dirty="0" err="1"/>
              <a:t>ch_img.size</a:t>
            </a:r>
            <a:r>
              <a:rPr lang="en-US" altLang="ko-KR" sz="1600" dirty="0"/>
              <a:t>[1])//2 +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(-6,8)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img.paste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ch_img</a:t>
            </a:r>
            <a:r>
              <a:rPr lang="en-US" altLang="ko-KR" sz="1600" dirty="0"/>
              <a:t>, (x, y), </a:t>
            </a:r>
            <a:r>
              <a:rPr lang="en-US" altLang="ko-KR" sz="1600" dirty="0" err="1"/>
              <a:t>ch_img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123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63DF-1814-4659-9276-25EA20E38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690A5892-8233-7C30-A5F4-D98A712D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BDB261-1813-614B-BF55-7F9CFABE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endParaRPr lang="ko-KR" altLang="en-US" sz="1600" dirty="0"/>
          </a:p>
          <a:p>
            <a:pPr marL="0" indent="0">
              <a:buNone/>
              <a:defRPr/>
            </a:pPr>
            <a:r>
              <a:rPr lang="ko-KR" altLang="en-US" sz="1600" dirty="0"/>
              <a:t>    </a:t>
            </a:r>
            <a:r>
              <a:rPr lang="en-US" altLang="ko-KR" sz="1600" dirty="0"/>
              <a:t>for _ in range(</a:t>
            </a:r>
            <a:r>
              <a:rPr lang="en-US" altLang="ko-KR" sz="1600" dirty="0" err="1"/>
              <a:t>dot_count</a:t>
            </a:r>
            <a:r>
              <a:rPr lang="en-US" altLang="ko-KR" sz="1600" dirty="0"/>
              <a:t>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x, y =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 width-1),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(0, height-1)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img.putpixel</a:t>
            </a:r>
            <a:r>
              <a:rPr lang="en-US" altLang="ko-KR" sz="1600" dirty="0"/>
              <a:t>((</a:t>
            </a:r>
            <a:r>
              <a:rPr lang="en-US" altLang="ko-KR" sz="1600" dirty="0" err="1"/>
              <a:t>x,y</a:t>
            </a:r>
            <a:r>
              <a:rPr lang="en-US" altLang="ko-KR" sz="1600" dirty="0"/>
              <a:t>), 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(100,220),)*3)</a:t>
            </a:r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img.filter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ImageFilter.GaussianBlur</a:t>
            </a:r>
            <a:r>
              <a:rPr lang="en-US" altLang="ko-KR" sz="1600" dirty="0"/>
              <a:t>(0.6))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img.filter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ImageFilter.UnsharpMask</a:t>
            </a:r>
            <a:r>
              <a:rPr lang="en-US" altLang="ko-KR" sz="1600" dirty="0"/>
              <a:t>(radius=1, percent=140, threshold=2))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img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04217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BE1AD-4E38-E876-6046-A9538F7A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BE370FBF-43B6-8625-183A-C4D02BC4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en-US" altLang="ko-KR" dirty="0"/>
              <a:t>CAPTCHA </a:t>
            </a:r>
            <a:r>
              <a:rPr lang="ko-KR" altLang="en-US" dirty="0"/>
              <a:t>이미지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1231F-3774-5AD7-9827-C151B3B1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ko-KR" altLang="en-US" sz="1600" dirty="0"/>
              <a:t>    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@app.get("/captcha.png")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captcha_png</a:t>
            </a:r>
            <a:r>
              <a:rPr lang="en-US" altLang="ko-KR" sz="1600" dirty="0"/>
              <a:t>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chal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get_challenge</a:t>
            </a:r>
            <a:r>
              <a:rPr lang="en-US" altLang="ko-KR" sz="1600" dirty="0"/>
              <a:t>() or </a:t>
            </a:r>
            <a:r>
              <a:rPr lang="en-US" altLang="ko-KR" sz="1600" dirty="0" err="1"/>
              <a:t>new_challenge</a:t>
            </a:r>
            <a:r>
              <a:rPr lang="en-US" altLang="ko-KR" sz="1600" dirty="0"/>
              <a:t>()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img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generate_captcha_image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chal</a:t>
            </a:r>
            <a:r>
              <a:rPr lang="en-US" altLang="ko-KR" sz="1600" dirty="0"/>
              <a:t>["answer"])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buf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io.BytesIO</a:t>
            </a:r>
            <a:r>
              <a:rPr lang="en-US" altLang="ko-KR" sz="1600" dirty="0"/>
              <a:t>(); </a:t>
            </a:r>
            <a:r>
              <a:rPr lang="en-US" altLang="ko-KR" sz="1600" dirty="0" err="1"/>
              <a:t>img.save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buf</a:t>
            </a:r>
            <a:r>
              <a:rPr lang="en-US" altLang="ko-KR" sz="1600" dirty="0"/>
              <a:t>, "PNG"); </a:t>
            </a:r>
            <a:r>
              <a:rPr lang="en-US" altLang="ko-KR" sz="1600" dirty="0" err="1"/>
              <a:t>buf.seek</a:t>
            </a:r>
            <a:r>
              <a:rPr lang="en-US" altLang="ko-KR" sz="1600" dirty="0"/>
              <a:t>(0)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send_file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buf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mimetype</a:t>
            </a:r>
            <a:r>
              <a:rPr lang="en-US" altLang="ko-KR" sz="1600" dirty="0"/>
              <a:t>="image/</a:t>
            </a:r>
            <a:r>
              <a:rPr lang="en-US" altLang="ko-KR" sz="1600" dirty="0" err="1"/>
              <a:t>png</a:t>
            </a:r>
            <a:r>
              <a:rPr lang="en-US" altLang="ko-KR" sz="16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380676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C777-3AAF-5C92-3682-D470E5E5C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AC10CCD3-2485-6B81-0F9A-FDB66A454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ko-KR" altLang="en-US" dirty="0" err="1"/>
              <a:t>검증로직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CEB08F-01C6-EE00-7F26-17E95D0E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def </a:t>
            </a:r>
            <a:r>
              <a:rPr lang="en-US" altLang="ko-KR" sz="1600" dirty="0" err="1"/>
              <a:t>is_valid_answer</a:t>
            </a:r>
            <a:r>
              <a:rPr lang="en-US" altLang="ko-KR" sz="1600" dirty="0"/>
              <a:t>(</a:t>
            </a:r>
            <a:r>
              <a:rPr lang="en-US" altLang="ko-KR" sz="1600" dirty="0" err="1"/>
              <a:t>user_input</a:t>
            </a:r>
            <a:r>
              <a:rPr lang="en-US" altLang="ko-KR" sz="1600" dirty="0"/>
              <a:t>: str):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data = </a:t>
            </a:r>
            <a:r>
              <a:rPr lang="en-US" altLang="ko-KR" sz="1600" dirty="0" err="1"/>
              <a:t>get_challenge</a:t>
            </a:r>
            <a:r>
              <a:rPr lang="en-US" altLang="ko-KR" sz="1600" dirty="0"/>
              <a:t>()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if not data: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return False, "no-challenge"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if </a:t>
            </a:r>
            <a:r>
              <a:rPr lang="en-US" altLang="ko-KR" sz="1600" dirty="0" err="1"/>
              <a:t>time.time</a:t>
            </a:r>
            <a:r>
              <a:rPr lang="en-US" altLang="ko-KR" sz="1600" dirty="0"/>
              <a:t>() - data["</a:t>
            </a:r>
            <a:r>
              <a:rPr lang="en-US" altLang="ko-KR" sz="1600" dirty="0" err="1"/>
              <a:t>created_at</a:t>
            </a:r>
            <a:r>
              <a:rPr lang="en-US" altLang="ko-KR" sz="1600" dirty="0"/>
              <a:t>"] &gt; CAPTCHA_TTL: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return False, "expired"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if </a:t>
            </a:r>
            <a:r>
              <a:rPr lang="en-US" altLang="ko-KR" sz="1600" dirty="0" err="1"/>
              <a:t>user_input.strip</a:t>
            </a:r>
            <a:r>
              <a:rPr lang="en-US" altLang="ko-KR" sz="1600" dirty="0"/>
              <a:t>().upper() == data["answer"].upper():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return True, "ok"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False, "mismatch"</a:t>
            </a:r>
          </a:p>
        </p:txBody>
      </p:sp>
    </p:spTree>
    <p:extLst>
      <p:ext uri="{BB962C8B-B14F-4D97-AF65-F5344CB8AC3E}">
        <p14:creationId xmlns:p14="http://schemas.microsoft.com/office/powerpoint/2010/main" val="1122024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2681F-6F32-6BDA-621F-C599A9360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9E4E917B-D3E0-51BC-9D1B-F6E4D723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ko-KR" altLang="en-US" dirty="0" err="1"/>
              <a:t>검증로직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F34C2-3CD3-B8DA-381B-72C609FBC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@app.post("/submit")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def submit():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user = </a:t>
            </a:r>
            <a:r>
              <a:rPr lang="en-US" altLang="ko-KR" sz="1600" dirty="0" err="1"/>
              <a:t>request.form.get</a:t>
            </a:r>
            <a:r>
              <a:rPr lang="en-US" altLang="ko-KR" sz="1600" dirty="0"/>
              <a:t>("captcha", "")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ok, reason = </a:t>
            </a:r>
            <a:r>
              <a:rPr lang="en-US" altLang="ko-KR" sz="1600" dirty="0" err="1"/>
              <a:t>is_valid_answer</a:t>
            </a:r>
            <a:r>
              <a:rPr lang="en-US" altLang="ko-KR" sz="1600" dirty="0"/>
              <a:t>(user)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if ok: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invalidate_challenge</a:t>
            </a:r>
            <a:r>
              <a:rPr lang="en-US" altLang="ko-KR" sz="1600" dirty="0"/>
              <a:t>()  # </a:t>
            </a:r>
            <a:r>
              <a:rPr lang="ko-KR" altLang="en-US" sz="1600" dirty="0"/>
              <a:t>재사용 방지</a:t>
            </a:r>
          </a:p>
          <a:p>
            <a:pPr marL="0" indent="0">
              <a:buNone/>
              <a:defRPr/>
            </a:pPr>
            <a:r>
              <a:rPr lang="ko-KR" altLang="en-US" sz="1600" dirty="0"/>
              <a:t>        </a:t>
            </a:r>
            <a:r>
              <a:rPr lang="en-US" altLang="ko-KR" sz="1600" dirty="0"/>
              <a:t>flash(" </a:t>
            </a:r>
            <a:r>
              <a:rPr lang="ko-KR" altLang="en-US" sz="1600" dirty="0"/>
              <a:t>정답</a:t>
            </a:r>
            <a:r>
              <a:rPr lang="en-US" altLang="ko-KR" sz="1600" dirty="0"/>
              <a:t>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else: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if reason == "expired":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flash("</a:t>
            </a:r>
            <a:r>
              <a:rPr lang="ko-KR" altLang="en-US" sz="1600" dirty="0"/>
              <a:t>만료되었습니다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다시 시도하세요</a:t>
            </a:r>
            <a:r>
              <a:rPr lang="en-US" altLang="ko-KR" sz="1600" dirty="0"/>
              <a:t>.")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elif</a:t>
            </a:r>
            <a:r>
              <a:rPr lang="en-US" altLang="ko-KR" sz="1600" dirty="0"/>
              <a:t> reason == "mismatch":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flash("</a:t>
            </a:r>
            <a:r>
              <a:rPr lang="ko-KR" altLang="en-US" sz="1600" dirty="0"/>
              <a:t>정답이 아닙니다</a:t>
            </a:r>
            <a:r>
              <a:rPr lang="en-US" altLang="ko-KR" sz="1600" dirty="0"/>
              <a:t>. </a:t>
            </a:r>
            <a:r>
              <a:rPr lang="ko-KR" altLang="en-US" sz="1600" dirty="0"/>
              <a:t>다시 시도하세요</a:t>
            </a:r>
            <a:r>
              <a:rPr lang="en-US" altLang="ko-KR" sz="1600" dirty="0"/>
              <a:t>.")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else: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    flash("</a:t>
            </a:r>
            <a:r>
              <a:rPr lang="ko-KR" altLang="en-US" sz="1600" dirty="0" err="1"/>
              <a:t>새로고침</a:t>
            </a:r>
            <a:r>
              <a:rPr lang="ko-KR" altLang="en-US" sz="1600" dirty="0"/>
              <a:t> 후 다시 시도하세요</a:t>
            </a:r>
            <a:r>
              <a:rPr lang="en-US" altLang="ko-KR" sz="1600" dirty="0"/>
              <a:t>.")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new_challenge</a:t>
            </a:r>
            <a:r>
              <a:rPr lang="en-US" altLang="ko-KR" sz="1600" dirty="0"/>
              <a:t>()</a:t>
            </a:r>
          </a:p>
          <a:p>
            <a:pPr marL="0" indent="0">
              <a:buNone/>
              <a:defRPr/>
            </a:pPr>
            <a:r>
              <a:rPr lang="en-US" altLang="ko-KR" sz="1600" dirty="0"/>
              <a:t>    return redirect(</a:t>
            </a:r>
            <a:r>
              <a:rPr lang="en-US" altLang="ko-KR" sz="1600" dirty="0" err="1"/>
              <a:t>url_for</a:t>
            </a:r>
            <a:r>
              <a:rPr lang="en-US" altLang="ko-KR" sz="1600" dirty="0"/>
              <a:t>("index"))</a:t>
            </a:r>
          </a:p>
        </p:txBody>
      </p:sp>
    </p:spTree>
    <p:extLst>
      <p:ext uri="{BB962C8B-B14F-4D97-AF65-F5344CB8AC3E}">
        <p14:creationId xmlns:p14="http://schemas.microsoft.com/office/powerpoint/2010/main" val="4079647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164BD-C06F-122A-6442-B3F6C98A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8FEB8902-ACB8-365E-C432-C852CBFAA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5" y="104775"/>
            <a:ext cx="7561263" cy="547688"/>
          </a:xfrm>
        </p:spPr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D20B83-0D3B-FED5-D0D0-AB31369B1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031875"/>
            <a:ext cx="8642350" cy="5472113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ko-KR" sz="1600" dirty="0"/>
              <a:t>Rotate_range </a:t>
            </a:r>
            <a:r>
              <a:rPr lang="ko-KR" altLang="en-US" sz="1600" dirty="0"/>
              <a:t>변경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 err="1"/>
              <a:t>Dot_count</a:t>
            </a:r>
            <a:r>
              <a:rPr lang="en-US" altLang="ko-KR" sz="1600" dirty="0"/>
              <a:t> </a:t>
            </a:r>
            <a:r>
              <a:rPr lang="ko-KR" altLang="en-US" sz="1600" dirty="0"/>
              <a:t>변경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/>
              <a:t>Line count </a:t>
            </a:r>
            <a:r>
              <a:rPr lang="ko-KR" altLang="en-US" sz="1600" dirty="0"/>
              <a:t>변경</a:t>
            </a:r>
            <a:endParaRPr lang="en-US" altLang="ko-KR" sz="1600" dirty="0"/>
          </a:p>
          <a:p>
            <a:pPr marL="0" indent="0">
              <a:buNone/>
              <a:defRPr/>
            </a:pPr>
            <a:r>
              <a:rPr lang="en-US" altLang="ko-KR" sz="1600" dirty="0" err="1"/>
              <a:t>Captch_len</a:t>
            </a:r>
            <a:r>
              <a:rPr lang="en-US" altLang="ko-KR" sz="1600" dirty="0"/>
              <a:t> </a:t>
            </a:r>
            <a:r>
              <a:rPr lang="ko-KR" altLang="en-US" sz="1600" dirty="0"/>
              <a:t>변경</a:t>
            </a:r>
            <a:endParaRPr lang="en-US" altLang="ko-KR" sz="1600" dirty="0"/>
          </a:p>
          <a:p>
            <a:pPr marL="0" indent="0">
              <a:buNone/>
              <a:defRPr/>
            </a:pPr>
            <a:endParaRPr lang="en-US" altLang="ko-KR" sz="1600" dirty="0"/>
          </a:p>
          <a:p>
            <a:pPr marL="0" indent="0">
              <a:buNone/>
              <a:defRPr/>
            </a:pPr>
            <a:r>
              <a:rPr lang="ko-KR" altLang="en-US" sz="1600" dirty="0"/>
              <a:t>변경해보고 스크린 샷 후 제출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207248562"/>
      </p:ext>
    </p:extLst>
  </p:cSld>
  <p:clrMapOvr>
    <a:masterClrMapping/>
  </p:clrMapOvr>
</p:sld>
</file>

<file path=ppt/theme/theme1.xml><?xml version="1.0" encoding="utf-8"?>
<a:theme xmlns:a="http://schemas.openxmlformats.org/drawingml/2006/main" name="쉽게 배우는 운영체제 2판">
  <a:themeElements>
    <a:clrScheme name="청록색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rgbClr val="FF0000"/>
          </a:solidFill>
          <a:prstDash val="dash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11282</TotalTime>
  <Words>1440</Words>
  <Application>Microsoft Office PowerPoint</Application>
  <PresentationFormat>화면 슬라이드 쇼(4:3)</PresentationFormat>
  <Paragraphs>190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굴림</vt:lpstr>
      <vt:lpstr>Arial</vt:lpstr>
      <vt:lpstr>+mj-lt</vt:lpstr>
      <vt:lpstr>Wingdings</vt:lpstr>
      <vt:lpstr>쉽게 배우는 운영체제 2판</vt:lpstr>
      <vt:lpstr>CAPTCHA 만들기</vt:lpstr>
      <vt:lpstr>CAPTCHA의 이미지 원리</vt:lpstr>
      <vt:lpstr>Flask 프로젝트 생성</vt:lpstr>
      <vt:lpstr>Flask 프로젝트 생성</vt:lpstr>
      <vt:lpstr>Flask 프로젝트 생성</vt:lpstr>
      <vt:lpstr>Flask 라우트 구성</vt:lpstr>
      <vt:lpstr>Flask 라우트 구성</vt:lpstr>
      <vt:lpstr>Flask 라우트 구성</vt:lpstr>
      <vt:lpstr>CAPTCHA 이미지 생성</vt:lpstr>
      <vt:lpstr>CAPTCHA 이미지 생성</vt:lpstr>
      <vt:lpstr>CAPTCHA 이미지 생성</vt:lpstr>
      <vt:lpstr>CAPTCHA 이미지 생성</vt:lpstr>
      <vt:lpstr>CAPTCHA 이미지 생성</vt:lpstr>
      <vt:lpstr>검증로직</vt:lpstr>
      <vt:lpstr>검증로직</vt:lpstr>
      <vt:lpstr>실습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김대열</cp:lastModifiedBy>
  <cp:revision>864</cp:revision>
  <dcterms:created xsi:type="dcterms:W3CDTF">2012-07-11T10:23:22Z</dcterms:created>
  <dcterms:modified xsi:type="dcterms:W3CDTF">2025-10-28T06:39:35Z</dcterms:modified>
</cp:coreProperties>
</file>